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5" r:id="rId10"/>
    <p:sldId id="266" r:id="rId11"/>
    <p:sldId id="269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A4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5" autoAdjust="0"/>
    <p:restoredTop sz="94964" autoAdjust="0"/>
  </p:normalViewPr>
  <p:slideViewPr>
    <p:cSldViewPr snapToGrid="0">
      <p:cViewPr varScale="1">
        <p:scale>
          <a:sx n="85" d="100"/>
          <a:sy n="85" d="100"/>
        </p:scale>
        <p:origin x="4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033BE-51C0-4F42-B0CD-942E11B438D9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4DFB-2B12-4AB7-9307-7FB1550AE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53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4DFB-2B12-4AB7-9307-7FB1550AEA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04DFB-2B12-4AB7-9307-7FB1550AEA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7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4C4A-253D-EE7A-84F8-2DCB0B10B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33E06-D878-D512-A791-6369A055A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DC8B8-38E0-B3C3-E8F0-C4BECEA8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B632B-C0F0-2599-1E73-6ABC7A73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7EE3-88D6-3124-262B-53BE91F6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5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F1D7-F809-C448-77F7-DDDF02C2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BA65-247E-6302-8386-818A64715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D3818-C906-7BD0-7483-49C4EDC5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9ECA5-1606-C00C-877C-2B3028DF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7FC6A-37D9-604E-09E6-B2767224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1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DAA5-6CFE-44A5-7074-2FFAE5B0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8C4E5-27F6-6798-CA51-939CBD0BB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C4F7E-5C54-EE4C-BD22-4FE8C9CB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3FF4F-5564-2FAA-5FEE-611ECD2A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89DE9-FBA4-657E-A8CE-BA816586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9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1FF2-ABC0-EDEB-B18B-516409BB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A2BE9-470B-C334-58AE-E8BA8BD57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AE99A-E0AF-3738-45FB-A6F44F93C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A563D-85EA-665B-EC32-BFD211C97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2E0A8-F0F3-9AF0-F21C-9A61D206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9417D-C374-19B6-4CB1-08E7F7EE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5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34A7-D865-BD87-583A-8E998CA4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16B25-61F6-27D6-C8F9-2CA29DF65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13397-F9B4-8C21-7987-6DC0A51AC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13C7D-12F4-9A2E-92D9-99F20CCE2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02BCC-C1F7-6693-0EE4-1D5B89D25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D66A61-3B7B-DA1C-2053-6F2484DB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FEE47-9D4F-DAFA-3BA0-9CAD08DB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2E0EC-54C6-8423-82B4-3A968B71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6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07F9-14FB-B96D-2174-E806865C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C02BB1-B05D-3D22-84DD-43A287CC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02BE1-9268-12A0-9D97-129F1EF1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1F57B-C9AB-7862-D072-E4E830EDA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5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DB849-C014-9D94-1F98-8911B6E40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2492D-B71D-91B5-23DD-952CA62B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147BE-771A-9EF5-4ABD-F65B2E24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8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1F0B-EAE7-D14C-3BFF-AB9040D9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5377-30BA-57AF-87EA-F2CBBD99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475A8-1BED-D1AA-555F-7024A1C2A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44BCD-2458-FDB9-1E2D-63508429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B665E-B243-AD7C-B872-4A5424DD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2BCF4-0C2F-40F2-A6D4-4C8552B5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4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0607-355A-EB81-692B-424C4648F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2A31-1F59-309B-1967-C486A52B2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0EBC2-B509-8EFB-E867-FADE9299C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EDDD2-3B14-309F-9C93-CBF0CB37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0BEEB-9E9D-8241-72F4-245D2C48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EFFAA-95BE-89AC-5757-21254F40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7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7D7E-A4D4-56C5-82AB-DAD10B68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4BF7D-39A9-5F35-0699-6972403FD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B8D23-61E3-E101-8CC9-CB7D0122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221B-ADAE-27D8-3BFE-6398BAD5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5FA2-2917-38DC-8BCA-6FBA0973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2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62798-520E-2530-CD3A-8C5806641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72171-91BC-3ACD-6034-43939DB25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98017-6E8F-8E4B-4B4A-3D6F1534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7478-9C44-BBE7-B70A-BD64AB31A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3915B-9CF9-75E7-DE7E-1E3398E8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3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10D69-F1C2-1543-DBA9-818D344B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C9FA-72DE-63D1-EFA8-73B42346B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F3DCF-0AF8-6FF6-EFDA-5CA5B45FC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5B8E5-8710-4736-A0BE-46300D898094}" type="datetimeFigureOut">
              <a:rPr lang="en-US" smtClean="0"/>
              <a:t>22-May-26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31338-31C2-A8C7-5295-7BE148E9A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6F98D-3F19-661A-A6A2-8473AD46E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FE29E-003C-46D7-9E90-17FAD90F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5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F731-678E-B588-B258-CFFB8DDC3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SNT in The Gambia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4F5C1-E849-3E45-429E-7104C915E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Follow up from SNT workshop in May</a:t>
            </a:r>
          </a:p>
        </p:txBody>
      </p:sp>
    </p:spTree>
    <p:extLst>
      <p:ext uri="{BB962C8B-B14F-4D97-AF65-F5344CB8AC3E}">
        <p14:creationId xmlns:p14="http://schemas.microsoft.com/office/powerpoint/2010/main" val="193874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AF43-18CB-2B34-D3C1-87C247F9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E8073-B171-ADEE-E599-BE59F7AE3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Given funding reductions, there is a need to develop </a:t>
            </a:r>
            <a:r>
              <a:rPr lang="en-US" sz="2400" b="1" dirty="0"/>
              <a:t>realistic national malaria plans that meet current funding envelopes</a:t>
            </a:r>
            <a:r>
              <a:rPr lang="en-US" sz="2400" dirty="0"/>
              <a:t>. This ensures the NMP has a data-driven well thought through plan for different funding eventualities.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the May workshop the NMP and partners worked to determine different options for more finely targeting malaria interventions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5 options were generated</a:t>
            </a:r>
            <a:r>
              <a:rPr lang="en-US" sz="2400" dirty="0"/>
              <a:t>: current NSP, a ‘business as usual’ plan (continuing activities at 2025 levels), optimistic (assuming an increase in the current funding envelope), a realistic plan, and a pessimistic plan. The details of these plans are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4224060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C598-E78E-10F8-5312-7C25D39D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A2FB7-3EEA-7CBE-E1EC-08B5A108A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476ACF-6446-D23C-3331-9F0A67AF1F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319517"/>
              </p:ext>
            </p:extLst>
          </p:nvPr>
        </p:nvGraphicFramePr>
        <p:xfrm>
          <a:off x="0" y="184838"/>
          <a:ext cx="12192002" cy="683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264">
                  <a:extLst>
                    <a:ext uri="{9D8B030D-6E8A-4147-A177-3AD203B41FA5}">
                      <a16:colId xmlns:a16="http://schemas.microsoft.com/office/drawing/2014/main" val="809513533"/>
                    </a:ext>
                  </a:extLst>
                </a:gridCol>
                <a:gridCol w="3253293">
                  <a:extLst>
                    <a:ext uri="{9D8B030D-6E8A-4147-A177-3AD203B41FA5}">
                      <a16:colId xmlns:a16="http://schemas.microsoft.com/office/drawing/2014/main" val="827087776"/>
                    </a:ext>
                  </a:extLst>
                </a:gridCol>
                <a:gridCol w="2324529">
                  <a:extLst>
                    <a:ext uri="{9D8B030D-6E8A-4147-A177-3AD203B41FA5}">
                      <a16:colId xmlns:a16="http://schemas.microsoft.com/office/drawing/2014/main" val="841728772"/>
                    </a:ext>
                  </a:extLst>
                </a:gridCol>
                <a:gridCol w="1756229">
                  <a:extLst>
                    <a:ext uri="{9D8B030D-6E8A-4147-A177-3AD203B41FA5}">
                      <a16:colId xmlns:a16="http://schemas.microsoft.com/office/drawing/2014/main" val="3410869446"/>
                    </a:ext>
                  </a:extLst>
                </a:gridCol>
                <a:gridCol w="1248228">
                  <a:extLst>
                    <a:ext uri="{9D8B030D-6E8A-4147-A177-3AD203B41FA5}">
                      <a16:colId xmlns:a16="http://schemas.microsoft.com/office/drawing/2014/main" val="3668969243"/>
                    </a:ext>
                  </a:extLst>
                </a:gridCol>
                <a:gridCol w="1335315">
                  <a:extLst>
                    <a:ext uri="{9D8B030D-6E8A-4147-A177-3AD203B41FA5}">
                      <a16:colId xmlns:a16="http://schemas.microsoft.com/office/drawing/2014/main" val="3317537624"/>
                    </a:ext>
                  </a:extLst>
                </a:gridCol>
                <a:gridCol w="1161144">
                  <a:extLst>
                    <a:ext uri="{9D8B030D-6E8A-4147-A177-3AD203B41FA5}">
                      <a16:colId xmlns:a16="http://schemas.microsoft.com/office/drawing/2014/main" val="132302543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Mass ITN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Routine ITN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n-lt"/>
                        </a:rPr>
                        <a:t>IPTsc</a:t>
                      </a:r>
                      <a:endParaRPr 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Vaccine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139752"/>
                  </a:ext>
                </a:extLst>
              </a:tr>
              <a:tr h="50330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 (using 2024 incidence)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571103"/>
                  </a:ext>
                </a:extLst>
              </a:tr>
              <a:tr h="61037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Business as usual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As per 2025 SMC coverage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Based on 2024 data – everywhere in URR and CRR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000703"/>
                  </a:ext>
                </a:extLst>
              </a:tr>
              <a:tr h="78515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Optimistic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Continue per NSP (18 districts in strata III based on average 2023-2025 incidence)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Reactive to hotspots in strata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751095"/>
                  </a:ext>
                </a:extLst>
              </a:tr>
              <a:tr h="74637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Realistic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Deprioritize urban areas (urban areas within Kombo North, KMC) (based on acceptability)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Cease routine distribution in the 6 months after a mass campaign + Consider stopping routine distribution to under 1s as mother should receive a net in ANC (3.3% of population) 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 SMC scale up in KMC and Banjul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 strata III based on 2023-2025 incidence districts in CRR and URR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Reactive to hotspots in strata I (based on 2023-2025 incidence)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URR + Jarra East Kombo South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298309"/>
                  </a:ext>
                </a:extLst>
              </a:tr>
              <a:tr h="74637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Pessimistic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Deprioritize urban areas (urban areas within Kombo North, KMC) (based on acceptability)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+ Limit based on HH size (max X per house, elsewhere – see next slide– based on HH size in census )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+ deprioritize areas with incidence &lt;10 (2023-2025) (~strata I) that are fully implementing CBS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Cease routine distribution in the 6 months after a mass campaign  + CBS routine distribution in areas deprioritized for mass campaign (with incidence &lt;10 (2023-2025) (~strata I) that are fully implementing CBS)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 SMC scale up in KMC and Banjul. Parts of Kombo North and Kombo Central deprioritized. Move to 3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IPTsc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URR + Jarra East Kombo South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891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90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F217F-D275-3E7B-C94C-37C58594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ITN pessimistic scenario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8571B2-E0A5-F44C-BD4B-EC5FF06C6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4195579"/>
              </p:ext>
            </p:extLst>
          </p:nvPr>
        </p:nvGraphicFramePr>
        <p:xfrm>
          <a:off x="965200" y="1474788"/>
          <a:ext cx="4366557" cy="241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264">
                  <a:extLst>
                    <a:ext uri="{9D8B030D-6E8A-4147-A177-3AD203B41FA5}">
                      <a16:colId xmlns:a16="http://schemas.microsoft.com/office/drawing/2014/main" val="2627967730"/>
                    </a:ext>
                  </a:extLst>
                </a:gridCol>
                <a:gridCol w="3253293">
                  <a:extLst>
                    <a:ext uri="{9D8B030D-6E8A-4147-A177-3AD203B41FA5}">
                      <a16:colId xmlns:a16="http://schemas.microsoft.com/office/drawing/2014/main" val="409254644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Mass ITN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770706"/>
                  </a:ext>
                </a:extLst>
              </a:tr>
              <a:tr h="74637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Pessimistic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Deprioritize urban areas (urban areas within Kombo North, KMC) (based on acceptability)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+ Limit based on HH size (max X per house, elsewhere – see next slide– based on HH size in census )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+ deprioritize areas with incidence &lt;10 (2023-2025) (~strata I) that are fully implementing CBS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936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CC2700-DDA5-D1D0-A955-3BD9624D1444}"/>
              </a:ext>
            </a:extLst>
          </p:cNvPr>
          <p:cNvSpPr txBox="1"/>
          <p:nvPr/>
        </p:nvSpPr>
        <p:spPr>
          <a:xfrm>
            <a:off x="228600" y="4005182"/>
            <a:ext cx="63119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 model this scenario, we need additional information </a:t>
            </a:r>
          </a:p>
          <a:p>
            <a:endParaRPr lang="en-US" sz="1600" dirty="0"/>
          </a:p>
          <a:p>
            <a:pPr marL="342900" indent="-342900">
              <a:buAutoNum type="arabicParenR"/>
            </a:pPr>
            <a:r>
              <a:rPr lang="en-US" sz="1600" b="1" dirty="0"/>
              <a:t>An estimate of the % of the population that could be deprioritized in Kombo North and KMC </a:t>
            </a:r>
            <a:r>
              <a:rPr lang="en-US" sz="1600" dirty="0"/>
              <a:t>(in the next slide, we show values assuming 30% of the population in these districts could be deprioritized – these are illustrative until we get better data)</a:t>
            </a:r>
          </a:p>
          <a:p>
            <a:pPr marL="342900" indent="-342900">
              <a:buAutoNum type="arabicParenR"/>
            </a:pPr>
            <a:endParaRPr lang="en-US" sz="1600" dirty="0"/>
          </a:p>
          <a:p>
            <a:pPr marL="342900" indent="-342900">
              <a:buAutoNum type="arabicParenR"/>
            </a:pPr>
            <a:r>
              <a:rPr lang="en-US" sz="1600" dirty="0"/>
              <a:t>Which Strata I (incidence &lt; 10) district are fully implementing CBS? (we not incorporated this information for now, but can do if we get a list of these specific districts)</a:t>
            </a:r>
          </a:p>
          <a:p>
            <a:pPr marL="342900" indent="-342900">
              <a:buAutoNum type="arabicParenR"/>
            </a:pPr>
            <a:endParaRPr lang="en-US" sz="1600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445D0CF-0748-9E3A-5FC1-A04221EE01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495340"/>
              </p:ext>
            </p:extLst>
          </p:nvPr>
        </p:nvGraphicFramePr>
        <p:xfrm>
          <a:off x="6860244" y="1719580"/>
          <a:ext cx="5103155" cy="3418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75756">
                  <a:extLst>
                    <a:ext uri="{9D8B030D-6E8A-4147-A177-3AD203B41FA5}">
                      <a16:colId xmlns:a16="http://schemas.microsoft.com/office/drawing/2014/main" val="31706095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89543219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823003673"/>
                    </a:ext>
                  </a:extLst>
                </a:gridCol>
                <a:gridCol w="1473199">
                  <a:extLst>
                    <a:ext uri="{9D8B030D-6E8A-4147-A177-3AD203B41FA5}">
                      <a16:colId xmlns:a16="http://schemas.microsoft.com/office/drawing/2014/main" val="409098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 HH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Max # nets per HH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% reduction in LLINs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34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87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284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North Bank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27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North Bank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06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URR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3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Western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81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Western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2809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35C1E9-8F55-803C-FDF9-76DF02EB002C}"/>
              </a:ext>
            </a:extLst>
          </p:cNvPr>
          <p:cNvSpPr txBox="1"/>
          <p:nvPr/>
        </p:nvSpPr>
        <p:spPr>
          <a:xfrm>
            <a:off x="6860244" y="1372156"/>
            <a:ext cx="36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Maximum number of nets per HH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C6A5A-9134-1D38-389C-2A16FED4AD1E}"/>
              </a:ext>
            </a:extLst>
          </p:cNvPr>
          <p:cNvSpPr txBox="1"/>
          <p:nvPr/>
        </p:nvSpPr>
        <p:spPr>
          <a:xfrm>
            <a:off x="7023099" y="5270500"/>
            <a:ext cx="4927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During the meeting, participants agreed on using a region-specific maximum number of ITNs per household. MACEPA team were able to translate this into the ‘% reduction in ITNs needed’ using a simple statistical approach</a:t>
            </a:r>
          </a:p>
        </p:txBody>
      </p:sp>
    </p:spTree>
    <p:extLst>
      <p:ext uri="{BB962C8B-B14F-4D97-AF65-F5344CB8AC3E}">
        <p14:creationId xmlns:p14="http://schemas.microsoft.com/office/powerpoint/2010/main" val="311497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5957-4433-4975-4BF4-ABB908C9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ITN scenarios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43F519-3B7F-2611-B814-82FEC12213AB}"/>
              </a:ext>
            </a:extLst>
          </p:cNvPr>
          <p:cNvSpPr txBox="1"/>
          <p:nvPr/>
        </p:nvSpPr>
        <p:spPr>
          <a:xfrm>
            <a:off x="5842001" y="365125"/>
            <a:ext cx="5816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Assuming 30% of households in KMC and Kombo North could be deprioritized for mass ITN campaigns, the realistic scenario achieves a </a:t>
            </a:r>
            <a:r>
              <a:rPr lang="en-US" b="1" dirty="0"/>
              <a:t>12% reduction </a:t>
            </a:r>
            <a:r>
              <a:rPr lang="en-US" dirty="0"/>
              <a:t>in the number of ITNs needed</a:t>
            </a:r>
          </a:p>
          <a:p>
            <a:endParaRPr lang="en-US" dirty="0"/>
          </a:p>
          <a:p>
            <a:r>
              <a:rPr lang="en-US" dirty="0"/>
              <a:t>If in addition, the number of nets per household is limited (based on regional HH size, ranging from 4-7) we achieve an </a:t>
            </a:r>
            <a:r>
              <a:rPr lang="en-US" b="1" dirty="0"/>
              <a:t>19.5% reduction </a:t>
            </a:r>
            <a:r>
              <a:rPr lang="en-US" dirty="0"/>
              <a:t>in the number of LLINs needed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A57C73-3718-2E9F-D9C3-2543A9AB5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1"/>
          <a:stretch>
            <a:fillRect/>
          </a:stretch>
        </p:blipFill>
        <p:spPr>
          <a:xfrm>
            <a:off x="0" y="1519287"/>
            <a:ext cx="5638800" cy="49735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0CE7DC-8FEF-9B10-3345-2C8BDA189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35275"/>
            <a:ext cx="5029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4BBF-C2FE-31A5-A585-C8B78F39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Routine ITNs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62A185-51F8-56AB-FBF9-6E73D7B36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2"/>
          <a:stretch>
            <a:fillRect/>
          </a:stretch>
        </p:blipFill>
        <p:spPr>
          <a:xfrm>
            <a:off x="114300" y="1538060"/>
            <a:ext cx="6902450" cy="51616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DEFD13-A87F-71BF-B2B9-B1FCAAFD2006}"/>
              </a:ext>
            </a:extLst>
          </p:cNvPr>
          <p:cNvSpPr txBox="1"/>
          <p:nvPr/>
        </p:nvSpPr>
        <p:spPr>
          <a:xfrm>
            <a:off x="4864100" y="365125"/>
            <a:ext cx="69024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Assuming 7% of the population receive an ITN each year via routine channels (3.5% pregnant women, 3.5% under 1s), we get the following estimates for number of LLINs needed over a 3 year period</a:t>
            </a:r>
          </a:p>
          <a:p>
            <a:endParaRPr lang="en-US" dirty="0"/>
          </a:p>
          <a:p>
            <a:r>
              <a:rPr lang="en-US" dirty="0"/>
              <a:t>Ceasing routine distribution in the 6 months after a mass campaign is estimated to reduce ITN needs by around 17%. </a:t>
            </a:r>
          </a:p>
          <a:p>
            <a:endParaRPr lang="en-US" dirty="0"/>
          </a:p>
          <a:p>
            <a:r>
              <a:rPr lang="en-US" dirty="0"/>
              <a:t>If in addition, the distribution of nets to under 1s is stopped, the overall routine ITN need would reduce by 58%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C684D-4E1F-3A94-D7DD-5DCEBD812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750" y="3086966"/>
            <a:ext cx="4967514" cy="361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4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A71E-7069-0DBC-6069-2B3A189C1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SMC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AA0E9D-BE58-57D5-99D0-629D41AE3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166" y="2078372"/>
            <a:ext cx="6250297" cy="46593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AE7496-E106-96DC-F94D-4A841597C84A}"/>
              </a:ext>
            </a:extLst>
          </p:cNvPr>
          <p:cNvSpPr txBox="1"/>
          <p:nvPr/>
        </p:nvSpPr>
        <p:spPr>
          <a:xfrm>
            <a:off x="4927600" y="365125"/>
            <a:ext cx="6524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SMC conducted as per the NSP would increase the number of SMC doses by over 30%, mostly driven by the inclusion of KMC (~230,000 SMC doses would be needed to cover KMC) 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71DCDCD-12D8-B62A-8E67-01B2A99C4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0" r="16019"/>
          <a:stretch>
            <a:fillRect/>
          </a:stretch>
        </p:blipFill>
        <p:spPr>
          <a:xfrm>
            <a:off x="204537" y="1288455"/>
            <a:ext cx="5315552" cy="55695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C5F96B-7D07-6860-2536-AEAEC4C912A9}"/>
              </a:ext>
            </a:extLst>
          </p:cNvPr>
          <p:cNvSpPr txBox="1"/>
          <p:nvPr/>
        </p:nvSpPr>
        <p:spPr>
          <a:xfrm>
            <a:off x="4305300" y="5568133"/>
            <a:ext cx="16891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EA48A"/>
                </a:solidFill>
              </a:rPr>
              <a:t>Assuming 30% of u5s would be deprioritized in Kombo North and Kombo Central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933178-55B3-2092-3C69-BE05D914954D}"/>
              </a:ext>
            </a:extLst>
          </p:cNvPr>
          <p:cNvCxnSpPr/>
          <p:nvPr/>
        </p:nvCxnSpPr>
        <p:spPr>
          <a:xfrm flipH="1" flipV="1">
            <a:off x="4724400" y="4829350"/>
            <a:ext cx="203200" cy="673100"/>
          </a:xfrm>
          <a:prstGeom prst="straightConnector1">
            <a:avLst/>
          </a:prstGeom>
          <a:ln>
            <a:solidFill>
              <a:srgbClr val="2EA4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78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E847-A27A-E8E2-094B-4452085C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IPTSc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D27EA-915A-1976-9DB7-059619D30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2" r="14393"/>
          <a:stretch>
            <a:fillRect/>
          </a:stretch>
        </p:blipFill>
        <p:spPr>
          <a:xfrm>
            <a:off x="445770" y="1379855"/>
            <a:ext cx="4491990" cy="5294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FD332-E418-773B-8485-F28B05A63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870" y="2438677"/>
            <a:ext cx="5928360" cy="44193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1D8979-9E3F-3203-906D-CC17AD61A5EE}"/>
              </a:ext>
            </a:extLst>
          </p:cNvPr>
          <p:cNvSpPr txBox="1"/>
          <p:nvPr/>
        </p:nvSpPr>
        <p:spPr>
          <a:xfrm>
            <a:off x="5132070" y="365125"/>
            <a:ext cx="6614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strata III areas, assuming </a:t>
            </a:r>
            <a:r>
              <a:rPr lang="en-US" dirty="0" err="1"/>
              <a:t>IPTsc</a:t>
            </a:r>
            <a:r>
              <a:rPr lang="en-US" dirty="0"/>
              <a:t> is distributed to all targeted 5-14 year olds, and 3 rounds are conducted per year, over 1.5 courses of SP+AQ would be needed in the NSP and Optimistic scenarios</a:t>
            </a:r>
          </a:p>
          <a:p>
            <a:endParaRPr lang="en-US" sz="1200" dirty="0"/>
          </a:p>
          <a:p>
            <a:r>
              <a:rPr lang="en-US" dirty="0"/>
              <a:t>The realistic scenario (4 districts in URR and </a:t>
            </a:r>
            <a:r>
              <a:rPr lang="en-US" dirty="0" err="1"/>
              <a:t>Janjanbureh</a:t>
            </a:r>
            <a:r>
              <a:rPr lang="en-US" dirty="0"/>
              <a:t> in CRR) would require only 163,000 doses </a:t>
            </a:r>
          </a:p>
        </p:txBody>
      </p:sp>
    </p:spTree>
    <p:extLst>
      <p:ext uri="{BB962C8B-B14F-4D97-AF65-F5344CB8AC3E}">
        <p14:creationId xmlns:p14="http://schemas.microsoft.com/office/powerpoint/2010/main" val="388035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355D-2F8D-FB05-922C-4732CE87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677ECD-4387-3DD8-22DC-09668FC43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4" r="9061"/>
          <a:stretch>
            <a:fillRect/>
          </a:stretch>
        </p:blipFill>
        <p:spPr>
          <a:xfrm>
            <a:off x="91440" y="1353291"/>
            <a:ext cx="5406390" cy="5504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BD56B-10AC-46AE-22AE-02D409E9D9DB}"/>
              </a:ext>
            </a:extLst>
          </p:cNvPr>
          <p:cNvSpPr txBox="1"/>
          <p:nvPr/>
        </p:nvSpPr>
        <p:spPr>
          <a:xfrm>
            <a:off x="6423660" y="1690688"/>
            <a:ext cx="43776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2.5 million </a:t>
            </a:r>
            <a:r>
              <a:rPr lang="en-US" dirty="0"/>
              <a:t>people reside in strata III areas (NSP and Optimistic scenarios)</a:t>
            </a:r>
          </a:p>
          <a:p>
            <a:endParaRPr lang="en-US" dirty="0"/>
          </a:p>
          <a:p>
            <a:r>
              <a:rPr lang="en-US" dirty="0"/>
              <a:t>Based on 2024 IRS targeted, there were only ~</a:t>
            </a:r>
            <a:r>
              <a:rPr lang="en-US" b="1" dirty="0"/>
              <a:t>600,000 </a:t>
            </a:r>
            <a:r>
              <a:rPr lang="en-US" dirty="0"/>
              <a:t>people living in IRS targeted areas – so the NSP would imply a  &gt;4 x increase in IRS</a:t>
            </a:r>
          </a:p>
          <a:p>
            <a:endParaRPr lang="en-US" dirty="0"/>
          </a:p>
          <a:p>
            <a:r>
              <a:rPr lang="en-US" dirty="0"/>
              <a:t>The realistic scenario (reactive IRS in strata I areas only) would cover ~115,000 individuals </a:t>
            </a:r>
          </a:p>
        </p:txBody>
      </p:sp>
    </p:spTree>
    <p:extLst>
      <p:ext uri="{BB962C8B-B14F-4D97-AF65-F5344CB8AC3E}">
        <p14:creationId xmlns:p14="http://schemas.microsoft.com/office/powerpoint/2010/main" val="3076766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8260A-1222-221B-7C89-D95F59CA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Vaccine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BF4F6A-FBD4-8800-FAF6-EA8063A89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2" r="12988"/>
          <a:stretch>
            <a:fillRect/>
          </a:stretch>
        </p:blipFill>
        <p:spPr>
          <a:xfrm>
            <a:off x="434340" y="1484947"/>
            <a:ext cx="4640580" cy="5257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D1425-F050-D59F-4482-232498F54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48736"/>
            <a:ext cx="5243860" cy="3909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F871E-CFA9-0AFB-FAF5-8A819776787A}"/>
              </a:ext>
            </a:extLst>
          </p:cNvPr>
          <p:cNvSpPr txBox="1"/>
          <p:nvPr/>
        </p:nvSpPr>
        <p:spPr>
          <a:xfrm>
            <a:off x="5074920" y="640080"/>
            <a:ext cx="5886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currently funded malaria vaccine plan (URR + Jarra East + Kombo South – Realistic scenario)  would result in around 17,500 children receiving the vaccine</a:t>
            </a:r>
          </a:p>
          <a:p>
            <a:endParaRPr lang="en-US" dirty="0"/>
          </a:p>
          <a:p>
            <a:r>
              <a:rPr lang="en-US" dirty="0"/>
              <a:t>Extending the vaccine strategy to all strata III areas would increase this to 66,000 children receiving the vaccine </a:t>
            </a:r>
          </a:p>
        </p:txBody>
      </p:sp>
    </p:spTree>
    <p:extLst>
      <p:ext uri="{BB962C8B-B14F-4D97-AF65-F5344CB8AC3E}">
        <p14:creationId xmlns:p14="http://schemas.microsoft.com/office/powerpoint/2010/main" val="3426698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BAFF2-4662-4A89-D51D-1773FDEA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70" y="-25146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By combining all the interventions, we get these national strategies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12E05A-0A7F-0862-A0EA-B4F9853C2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0100"/>
            <a:ext cx="1211580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00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9E711-7814-BD64-608A-D642D5D9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9082-7382-DE7D-7075-038950DF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for the NMCP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0984-BF1E-FFBE-23B8-08FEBF45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Please describe, in detail any alterations to the strategies (amend the table provided on the next slide)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Please provide an estimate of the % of the population that could be deprioritized in Kombo North and KMC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Which Strata I (incidence &lt; 10) district are fully implementing CBS?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We’ve assumed that around 30% of children would be deprioritized for SMC in Kombo North and Kombo Central – is this realistic? If not, what value should we apply?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How many reactive IRS responses are expected? How many houses are sprayed during the response?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6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483B-3456-FC0C-891F-2087B790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for the NMCP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9B6C-BDF7-545E-5641-12237E7CF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describe, in detail any alteration to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DB7101-456E-DC2E-AAC0-83FEABBAC7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5459737"/>
              </p:ext>
            </p:extLst>
          </p:nvPr>
        </p:nvGraphicFramePr>
        <p:xfrm>
          <a:off x="0" y="184838"/>
          <a:ext cx="12192002" cy="683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264">
                  <a:extLst>
                    <a:ext uri="{9D8B030D-6E8A-4147-A177-3AD203B41FA5}">
                      <a16:colId xmlns:a16="http://schemas.microsoft.com/office/drawing/2014/main" val="809513533"/>
                    </a:ext>
                  </a:extLst>
                </a:gridCol>
                <a:gridCol w="3253293">
                  <a:extLst>
                    <a:ext uri="{9D8B030D-6E8A-4147-A177-3AD203B41FA5}">
                      <a16:colId xmlns:a16="http://schemas.microsoft.com/office/drawing/2014/main" val="827087776"/>
                    </a:ext>
                  </a:extLst>
                </a:gridCol>
                <a:gridCol w="2324529">
                  <a:extLst>
                    <a:ext uri="{9D8B030D-6E8A-4147-A177-3AD203B41FA5}">
                      <a16:colId xmlns:a16="http://schemas.microsoft.com/office/drawing/2014/main" val="841728772"/>
                    </a:ext>
                  </a:extLst>
                </a:gridCol>
                <a:gridCol w="1756229">
                  <a:extLst>
                    <a:ext uri="{9D8B030D-6E8A-4147-A177-3AD203B41FA5}">
                      <a16:colId xmlns:a16="http://schemas.microsoft.com/office/drawing/2014/main" val="3410869446"/>
                    </a:ext>
                  </a:extLst>
                </a:gridCol>
                <a:gridCol w="1248228">
                  <a:extLst>
                    <a:ext uri="{9D8B030D-6E8A-4147-A177-3AD203B41FA5}">
                      <a16:colId xmlns:a16="http://schemas.microsoft.com/office/drawing/2014/main" val="3668969243"/>
                    </a:ext>
                  </a:extLst>
                </a:gridCol>
                <a:gridCol w="1335315">
                  <a:extLst>
                    <a:ext uri="{9D8B030D-6E8A-4147-A177-3AD203B41FA5}">
                      <a16:colId xmlns:a16="http://schemas.microsoft.com/office/drawing/2014/main" val="3317537624"/>
                    </a:ext>
                  </a:extLst>
                </a:gridCol>
                <a:gridCol w="1161144">
                  <a:extLst>
                    <a:ext uri="{9D8B030D-6E8A-4147-A177-3AD203B41FA5}">
                      <a16:colId xmlns:a16="http://schemas.microsoft.com/office/drawing/2014/main" val="132302543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Mass ITN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Routine ITN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n-lt"/>
                        </a:rPr>
                        <a:t>IPTsc</a:t>
                      </a:r>
                      <a:endParaRPr 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Vaccine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139752"/>
                  </a:ext>
                </a:extLst>
              </a:tr>
              <a:tr h="503308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 (using 2024 incidence)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571103"/>
                  </a:ext>
                </a:extLst>
              </a:tr>
              <a:tr h="61037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Business as usual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As per 2025 SMC coverage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Based on 2024 data – everywhere in URR and CRR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000703"/>
                  </a:ext>
                </a:extLst>
              </a:tr>
              <a:tr h="78515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Optimistic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Everywhere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Continue per NSP (18 districts in strata III based on average 2023-2025 incidence)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Reactive to hotspots in strata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Strata III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751095"/>
                  </a:ext>
                </a:extLst>
              </a:tr>
              <a:tr h="74637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Realistic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Deprioritize urban areas (urban areas within Kombo North, KMC) (based on acceptability)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Cease routine distribution in the 6 months after a mass campaign + Consider stopping routine distribution to under 1s as mother should receive a net in ANC (3.3% of population) 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 SMC scale up in KMC and Banjul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 strata III based on 2023-2025 incidence districts in CRR and URR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Reactive to hotspots in strata I (based on 2023-2025 incidence)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URR + Jarra East Kombo South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298309"/>
                  </a:ext>
                </a:extLst>
              </a:tr>
              <a:tr h="74637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Pessimistic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Deprioritize urban areas (urban areas within Kombo North, KMC) (based on acceptability)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+ Limit based on HH size (max X per house, elsewhere – see next slide– based on HH size in census )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 + deprioritize areas with incidence &lt;10 (2023-2025) (~strata I) that are fully implementing CBS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Cease routine distribution in the 6 months after a mass campaign  + CBS routine distribution in areas deprioritized for mass campaign (with incidence &lt;10 (2023-2025) (~strata I) that are fully implementing CBS)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 SMC scale up in KMC and Banjul. Parts of Kombo North and Kombo Central deprioritized. Move to 3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+mn-lt"/>
                        </a:rPr>
                        <a:t>IPTsc</a:t>
                      </a:r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/>
                        </a:rPr>
                        <a:t>URR + Jarra East Kombo South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8910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93E7C9-D7BF-BA41-A7BF-A7FEF1E3024F}"/>
              </a:ext>
            </a:extLst>
          </p:cNvPr>
          <p:cNvSpPr txBox="1"/>
          <p:nvPr/>
        </p:nvSpPr>
        <p:spPr>
          <a:xfrm rot="19759623">
            <a:off x="1657350" y="2926504"/>
            <a:ext cx="8366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PLEASE MAKE CHANGES IN THIS SLIDE, HIGHLIGHT ALL CHANGES IN </a:t>
            </a: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RED TEXT</a:t>
            </a:r>
          </a:p>
        </p:txBody>
      </p:sp>
    </p:spTree>
    <p:extLst>
      <p:ext uri="{BB962C8B-B14F-4D97-AF65-F5344CB8AC3E}">
        <p14:creationId xmlns:p14="http://schemas.microsoft.com/office/powerpoint/2010/main" val="2005069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1499</Words>
  <Application>Microsoft Office PowerPoint</Application>
  <PresentationFormat>Widescreen</PresentationFormat>
  <Paragraphs>183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SNT in The Gambia</vt:lpstr>
      <vt:lpstr>Introduction</vt:lpstr>
      <vt:lpstr>PowerPoint Presentation</vt:lpstr>
      <vt:lpstr>Notes on ITN pessimistic scenario</vt:lpstr>
      <vt:lpstr>Mass ITN scenarios</vt:lpstr>
      <vt:lpstr>Routine ITNs</vt:lpstr>
      <vt:lpstr>SMC</vt:lpstr>
      <vt:lpstr>IPTSc</vt:lpstr>
      <vt:lpstr>IRS</vt:lpstr>
      <vt:lpstr>Vaccine</vt:lpstr>
      <vt:lpstr>By combining all the interventions, we get these national strategies</vt:lpstr>
      <vt:lpstr>Questions for the NMCP</vt:lpstr>
      <vt:lpstr>Questions for the NMCP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Slater</dc:creator>
  <cp:lastModifiedBy>Hannah Slater</cp:lastModifiedBy>
  <cp:revision>4</cp:revision>
  <dcterms:created xsi:type="dcterms:W3CDTF">2026-05-21T21:17:27Z</dcterms:created>
  <dcterms:modified xsi:type="dcterms:W3CDTF">2026-05-22T22:59:20Z</dcterms:modified>
</cp:coreProperties>
</file>